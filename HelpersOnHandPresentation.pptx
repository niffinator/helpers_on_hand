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1" r:id="rId4"/>
  </p:sldMasterIdLst>
  <p:notesMasterIdLst>
    <p:notesMasterId r:id="rId9"/>
  </p:notesMasterIdLst>
  <p:handoutMasterIdLst>
    <p:handoutMasterId r:id="rId10"/>
  </p:handoutMasterIdLst>
  <p:sldIdLst>
    <p:sldId id="314" r:id="rId5"/>
    <p:sldId id="329" r:id="rId6"/>
    <p:sldId id="339" r:id="rId7"/>
    <p:sldId id="34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>
        <p:scale>
          <a:sx n="69" d="100"/>
          <a:sy n="69" d="100"/>
        </p:scale>
        <p:origin x="564" y="68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169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599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202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356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9153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6E9AC-E546-41AA-A554-F8701EA284A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F5CAB0E-5DCB-35F9-2004-221D41E38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Object 1">
            <a:extLst>
              <a:ext uri="{FF2B5EF4-FFF2-40B4-BE49-F238E27FC236}">
                <a16:creationId xmlns:a16="http://schemas.microsoft.com/office/drawing/2014/main" id="{58BC3D8D-4A00-60CD-362F-ED54CF13A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4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0319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505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154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865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6987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2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5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653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2C96-61D4-4414-B237-443987208F8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0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6" r:id="rId13"/>
    <p:sldLayoutId id="2147484067" r:id="rId14"/>
    <p:sldLayoutId id="2147483649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808" y="2235480"/>
            <a:ext cx="6120384" cy="2250059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rgbClr val="7030A0"/>
                </a:solidFill>
              </a:rPr>
              <a:t>Helpers on Hand</a:t>
            </a:r>
            <a:br>
              <a:rPr lang="en-US" sz="7200" dirty="0">
                <a:solidFill>
                  <a:srgbClr val="7030A0"/>
                </a:solidFill>
              </a:rPr>
            </a:br>
            <a:r>
              <a:rPr lang="en-US" sz="3100" dirty="0">
                <a:solidFill>
                  <a:srgbClr val="7030A0"/>
                </a:solidFill>
              </a:rPr>
              <a:t>A Task Management System for small communities</a:t>
            </a:r>
            <a:endParaRPr lang="en-US" sz="5400" dirty="0">
              <a:solidFill>
                <a:srgbClr val="7030A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1F3443-D777-6480-D60A-359477A29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7" t="909" r="5316" b="6458"/>
          <a:stretch>
            <a:fillRect/>
          </a:stretch>
        </p:blipFill>
        <p:spPr bwMode="auto">
          <a:xfrm>
            <a:off x="9568541" y="3360510"/>
            <a:ext cx="2601913" cy="347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A4ACFF-453A-739A-5499-E22C65507256}"/>
              </a:ext>
            </a:extLst>
          </p:cNvPr>
          <p:cNvSpPr txBox="1"/>
          <p:nvPr/>
        </p:nvSpPr>
        <p:spPr>
          <a:xfrm>
            <a:off x="277578" y="5587833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by: Jennifer Rose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Indiana University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INFO-C450 Midterm Demo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598" y="924214"/>
            <a:ext cx="6509657" cy="383284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Clients – individuals that may need help with domestic tasks such as laundry, changing a lightbulb, bringing in the trash cans, balancing a checkbook,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Volunteers – individuals with time on their hands and a desire to complete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Managers – individuals that track the requests and match them to volunteers.</a:t>
            </a:r>
          </a:p>
          <a:p>
            <a:endParaRPr lang="en-US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AC02E9E-85D5-3A72-ECDB-DE2BE6B13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5641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1E19BAD-33FC-4A4F-CE16-B2BDCEEC2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2396409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B009FF-A6CF-17A0-E0CE-2929746A3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7239399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BC58E54-3907-773A-0060-01EA90691A6D}"/>
              </a:ext>
            </a:extLst>
          </p:cNvPr>
          <p:cNvSpPr txBox="1">
            <a:spLocks/>
          </p:cNvSpPr>
          <p:nvPr/>
        </p:nvSpPr>
        <p:spPr>
          <a:xfrm>
            <a:off x="9083532" y="784539"/>
            <a:ext cx="2593356" cy="432603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TABLES</a:t>
            </a:r>
          </a:p>
          <a:p>
            <a:r>
              <a:rPr lang="en-US" dirty="0">
                <a:solidFill>
                  <a:srgbClr val="7030A0"/>
                </a:solidFill>
              </a:rPr>
              <a:t>Person</a:t>
            </a:r>
          </a:p>
          <a:p>
            <a:r>
              <a:rPr lang="en-US" dirty="0">
                <a:solidFill>
                  <a:srgbClr val="7030A0"/>
                </a:solidFill>
              </a:rPr>
              <a:t>Role</a:t>
            </a:r>
          </a:p>
          <a:p>
            <a:r>
              <a:rPr lang="en-US" dirty="0">
                <a:solidFill>
                  <a:srgbClr val="7030A0"/>
                </a:solidFill>
              </a:rPr>
              <a:t>Chore</a:t>
            </a:r>
          </a:p>
          <a:p>
            <a:r>
              <a:rPr lang="en-US" dirty="0">
                <a:solidFill>
                  <a:srgbClr val="7030A0"/>
                </a:solidFill>
              </a:rPr>
              <a:t>Task Request</a:t>
            </a:r>
          </a:p>
          <a:p>
            <a:r>
              <a:rPr lang="en-US" dirty="0">
                <a:solidFill>
                  <a:srgbClr val="7030A0"/>
                </a:solidFill>
              </a:rPr>
              <a:t>User</a:t>
            </a:r>
          </a:p>
          <a:p>
            <a:r>
              <a:rPr lang="en-US" dirty="0">
                <a:solidFill>
                  <a:srgbClr val="7030A0"/>
                </a:solidFill>
              </a:rPr>
              <a:t>Calendar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FUNCTIONS</a:t>
            </a:r>
          </a:p>
          <a:p>
            <a:pPr marL="342900" indent="-342900"/>
            <a:r>
              <a:rPr lang="en-US" dirty="0">
                <a:solidFill>
                  <a:srgbClr val="7030A0"/>
                </a:solidFill>
              </a:rPr>
              <a:t>Adding data</a:t>
            </a:r>
          </a:p>
          <a:p>
            <a:pPr marL="342900" indent="-342900"/>
            <a:r>
              <a:rPr lang="en-US" dirty="0">
                <a:solidFill>
                  <a:srgbClr val="7030A0"/>
                </a:solidFill>
              </a:rPr>
              <a:t>Changing data</a:t>
            </a:r>
          </a:p>
          <a:p>
            <a:pPr marL="342900" indent="-342900"/>
            <a:r>
              <a:rPr lang="en-US" dirty="0">
                <a:solidFill>
                  <a:srgbClr val="7030A0"/>
                </a:solidFill>
              </a:rPr>
              <a:t>Reporting data</a:t>
            </a:r>
          </a:p>
          <a:p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F3A90C62-F08C-C6D7-9734-5CF8B0F36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5641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D2944872-F30B-159E-DD2C-955927A7B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2396409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793017-8F62-748F-B3BF-C949DB7F2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1"/>
          <a:stretch>
            <a:fillRect/>
          </a:stretch>
        </p:blipFill>
        <p:spPr bwMode="auto">
          <a:xfrm>
            <a:off x="7239399" y="5706300"/>
            <a:ext cx="4951847" cy="1147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1C4F61-F29D-3811-E815-C75CFDAA5F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2" t="32197" r="22312" b="1856"/>
          <a:stretch>
            <a:fillRect/>
          </a:stretch>
        </p:blipFill>
        <p:spPr>
          <a:xfrm>
            <a:off x="2654912" y="712309"/>
            <a:ext cx="6227064" cy="4471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olorful hand prints in the shape of a heart&#10;&#10;AI-generated content may be incorrect.">
            <a:extLst>
              <a:ext uri="{FF2B5EF4-FFF2-40B4-BE49-F238E27FC236}">
                <a16:creationId xmlns:a16="http://schemas.microsoft.com/office/drawing/2014/main" id="{C8D8CE74-700F-A63F-4B6E-69353075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9" r="-3" b="19093"/>
          <a:stretch>
            <a:fillRect/>
          </a:stretch>
        </p:blipFill>
        <p:spPr bwMode="auto">
          <a:xfrm>
            <a:off x="4442690" y="626980"/>
            <a:ext cx="6669809" cy="5266542"/>
          </a:xfrm>
          <a:prstGeom prst="rect">
            <a:avLst/>
          </a:prstGeom>
          <a:solidFill>
            <a:srgbClr val="FFFFFF"/>
          </a:solidFill>
          <a:ln w="57150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EFAC9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002758-DD83-DE08-A013-06693260144C}"/>
              </a:ext>
            </a:extLst>
          </p:cNvPr>
          <p:cNvSpPr txBox="1"/>
          <p:nvPr/>
        </p:nvSpPr>
        <p:spPr>
          <a:xfrm>
            <a:off x="8921311" y="5684981"/>
            <a:ext cx="2862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7030A0"/>
                </a:solidFill>
              </a:rPr>
              <a:t>Thank you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9B1ED-4D78-65EC-0579-DA9E41D7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69" y="2665696"/>
            <a:ext cx="4555172" cy="1526608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solidFill>
                  <a:srgbClr val="7030A0"/>
                </a:solidFill>
              </a:rPr>
              <a:t>Next: Demonstration</a:t>
            </a:r>
          </a:p>
        </p:txBody>
      </p:sp>
    </p:spTree>
    <p:extLst>
      <p:ext uri="{BB962C8B-B14F-4D97-AF65-F5344CB8AC3E}">
        <p14:creationId xmlns:p14="http://schemas.microsoft.com/office/powerpoint/2010/main" val="86631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105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Helpers on Hand A Task Management System for small communities</vt:lpstr>
      <vt:lpstr>PowerPoint Presentation</vt:lpstr>
      <vt:lpstr>PowerPoint Presentation</vt:lpstr>
      <vt:lpstr>Next: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Rose, Jennifer</dc:creator>
  <cp:lastModifiedBy>Rose, Jennifer</cp:lastModifiedBy>
  <cp:revision>4</cp:revision>
  <dcterms:created xsi:type="dcterms:W3CDTF">2025-10-23T01:20:03Z</dcterms:created>
  <dcterms:modified xsi:type="dcterms:W3CDTF">2025-10-23T02:43:25Z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